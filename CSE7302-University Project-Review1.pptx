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57" r:id="rId4"/>
    <p:sldId id="274" r:id="rId5"/>
    <p:sldId id="273" r:id="rId6"/>
    <p:sldId id="275" r:id="rId7"/>
    <p:sldId id="268" r:id="rId8"/>
    <p:sldId id="276" r:id="rId9"/>
    <p:sldId id="272" r:id="rId10"/>
    <p:sldId id="271" r:id="rId11"/>
    <p:sldId id="277"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EE00C56-F95C-49DD-1691-D3826F428F6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71B10E8-891C-BB33-E117-38CA08C212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7158FC2-16AE-EB8A-60EE-0A04B1017C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7108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F71C7DF-E074-09DC-0EC0-3BFBEEDF8E9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68BB011-873C-2D42-7E2D-A89A6A4318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518CBB0D-69EF-1153-8D70-AFBF40790F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3278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29F7870-2957-4A18-FD0B-6C072636AE4B}"/>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A629109-FB1E-90B5-924D-2D725F9C84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A06D8B8-6B4E-AE92-62AD-02C2C4347D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019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IMAGE BASED BREED </a:t>
            </a:r>
            <a:r>
              <a:rPr lang="en-IN" sz="2400" dirty="0">
                <a:solidFill>
                  <a:schemeClr val="tx1"/>
                </a:solidFill>
                <a:latin typeface="Cambria" panose="02040503050406030204" pitchFamily="18" charset="0"/>
                <a:ea typeface="Cambria" panose="02040503050406030204" pitchFamily="18" charset="0"/>
              </a:rPr>
              <a:t>RECOGNITION FOR CATTLE AND BUFFALO OF INDIA</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CSE_161</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p>
          <a:p>
            <a:pPr marL="0" marR="0" lvl="0" indent="0" algn="ctr" rtl="0">
              <a:spcBef>
                <a:spcPts val="0"/>
              </a:spcBef>
              <a:spcAft>
                <a:spcPts val="0"/>
              </a:spcAft>
              <a:buClr>
                <a:srgbClr val="17365D"/>
              </a:buClr>
              <a:buSzPts val="2000"/>
              <a:buFont typeface="Arial"/>
              <a:buNone/>
            </a:pPr>
            <a:endPar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0"/>
              </a:spcBef>
              <a:spcAft>
                <a:spcPts val="0"/>
              </a:spcAft>
              <a:buClr>
                <a:srgbClr val="17365D"/>
              </a:buClr>
              <a:buSzPts val="2000"/>
              <a:buFont typeface="Arial"/>
              <a:buNone/>
            </a:pPr>
            <a:r>
              <a:rPr lang="en-US" sz="1800" dirty="0" smtClean="0">
                <a:latin typeface="Cambria" panose="02040503050406030204" pitchFamily="18" charset="0"/>
                <a:ea typeface="Cambria" panose="02040503050406030204" pitchFamily="18" charset="0"/>
              </a:rPr>
              <a:t>Dr. </a:t>
            </a:r>
            <a:r>
              <a:rPr lang="en-US" sz="1800" dirty="0" err="1" smtClean="0">
                <a:latin typeface="Cambria" panose="02040503050406030204" pitchFamily="18" charset="0"/>
                <a:ea typeface="Cambria" panose="02040503050406030204" pitchFamily="18" charset="0"/>
              </a:rPr>
              <a:t>Md</a:t>
            </a:r>
            <a:r>
              <a:rPr lang="en-US" sz="1800" dirty="0" smtClean="0">
                <a:latin typeface="Cambria" panose="02040503050406030204" pitchFamily="18" charset="0"/>
                <a:ea typeface="Cambria" panose="02040503050406030204" pitchFamily="18" charset="0"/>
              </a:rPr>
              <a:t> Zia Ur Rahman</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 At,</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763904495"/>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Student Name</a:t>
                      </a:r>
                      <a:endParaRPr sz="1800" b="1" u="none" strike="noStrike" cap="none" dirty="0">
                        <a:solidFill>
                          <a:srgbClr val="17365D"/>
                        </a:solidFill>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smtClean="0">
                          <a:latin typeface="Cambria" panose="02040503050406030204" pitchFamily="18" charset="0"/>
                          <a:ea typeface="Cambria" panose="02040503050406030204" pitchFamily="18" charset="0"/>
                        </a:rPr>
                        <a:t>20221CSE0388</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smtClean="0">
                          <a:latin typeface="Cambria" panose="02040503050406030204" pitchFamily="18" charset="0"/>
                          <a:ea typeface="Cambria" panose="02040503050406030204" pitchFamily="18" charset="0"/>
                        </a:rPr>
                        <a:t>Sakshi</a:t>
                      </a:r>
                      <a:r>
                        <a:rPr lang="en-US" sz="1800" u="none" strike="noStrike" cap="none" baseline="0" dirty="0" smtClean="0">
                          <a:latin typeface="Cambria" panose="02040503050406030204" pitchFamily="18" charset="0"/>
                          <a:ea typeface="Cambria" panose="02040503050406030204" pitchFamily="18" charset="0"/>
                        </a:rPr>
                        <a:t> </a:t>
                      </a:r>
                      <a:r>
                        <a:rPr lang="en-US" sz="1800" u="none" strike="noStrike" cap="none" baseline="0" dirty="0" err="1" smtClean="0">
                          <a:latin typeface="Cambria" panose="02040503050406030204" pitchFamily="18" charset="0"/>
                          <a:ea typeface="Cambria" panose="02040503050406030204" pitchFamily="18" charset="0"/>
                        </a:rPr>
                        <a:t>Kumari</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smtClean="0">
                          <a:latin typeface="Cambria" panose="02040503050406030204" pitchFamily="18" charset="0"/>
                          <a:ea typeface="Cambria" panose="02040503050406030204" pitchFamily="18" charset="0"/>
                        </a:rPr>
                        <a:t>20221CSE0066</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err="1" smtClean="0">
                          <a:latin typeface="Cambria" panose="02040503050406030204" pitchFamily="18" charset="0"/>
                          <a:ea typeface="Cambria" panose="02040503050406030204" pitchFamily="18" charset="0"/>
                        </a:rPr>
                        <a:t>Shreyas</a:t>
                      </a:r>
                      <a:r>
                        <a:rPr lang="en-US" sz="1800" u="none" strike="noStrike" cap="none" baseline="0" dirty="0" smtClean="0">
                          <a:latin typeface="Cambria" panose="02040503050406030204" pitchFamily="18" charset="0"/>
                          <a:ea typeface="Cambria" panose="02040503050406030204" pitchFamily="18" charset="0"/>
                        </a:rPr>
                        <a:t> S</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 Tech (CSE)</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Mr. </a:t>
            </a:r>
            <a:r>
              <a:rPr lang="en-US" sz="18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Muthuraju</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SIH25004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Ministry of Agriculture &amp; Farmers Welfare </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   Identification of cattle and buffalo breeds is crucial for livestock management, breeding programs, veterinary care, and subsidy allocation. Manual breed identification is error-prone, time-consuming, and requires expert knowledge. This project proposes an AI-based image recognition system to automatically classify Indian cattle and buffalo breeds using deep learning techniques.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Problem Statement Objectives</a:t>
            </a: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pPr>
            <a:r>
              <a:rPr lang="en-IN" dirty="0">
                <a:latin typeface="Cambria" panose="02040503050406030204" pitchFamily="18" charset="0"/>
                <a:ea typeface="Cambria" panose="02040503050406030204" pitchFamily="18" charset="0"/>
              </a:rPr>
              <a:t>To develop an automated system for breed recognition of cattle and buffalo</a:t>
            </a:r>
          </a:p>
          <a:p>
            <a:pPr marL="495300" indent="-342900" algn="just">
              <a:lnSpc>
                <a:spcPct val="200000"/>
              </a:lnSpc>
              <a:spcBef>
                <a:spcPts val="0"/>
              </a:spcBef>
            </a:pPr>
            <a:r>
              <a:rPr lang="en-IN" dirty="0">
                <a:latin typeface="Cambria" panose="02040503050406030204" pitchFamily="18" charset="0"/>
                <a:ea typeface="Cambria" panose="02040503050406030204" pitchFamily="18" charset="0"/>
              </a:rPr>
              <a:t>To classify multiple Indian indigenous breeds using image data</a:t>
            </a:r>
          </a:p>
          <a:p>
            <a:pPr marL="495300" indent="-342900" algn="just">
              <a:lnSpc>
                <a:spcPct val="200000"/>
              </a:lnSpc>
              <a:spcBef>
                <a:spcPts val="0"/>
              </a:spcBef>
            </a:pPr>
            <a:r>
              <a:rPr lang="en-IN" dirty="0">
                <a:latin typeface="Cambria" panose="02040503050406030204" pitchFamily="18" charset="0"/>
                <a:ea typeface="Cambria" panose="02040503050406030204" pitchFamily="18" charset="0"/>
              </a:rPr>
              <a:t>To compare CNN and Transformer-based models for accuracy</a:t>
            </a:r>
          </a:p>
          <a:p>
            <a:pPr marL="495300" indent="-342900" algn="just">
              <a:lnSpc>
                <a:spcPct val="200000"/>
              </a:lnSpc>
              <a:spcBef>
                <a:spcPts val="0"/>
              </a:spcBef>
            </a:pPr>
            <a:r>
              <a:rPr lang="en-IN" dirty="0">
                <a:latin typeface="Cambria" panose="02040503050406030204" pitchFamily="18" charset="0"/>
                <a:ea typeface="Cambria" panose="02040503050406030204" pitchFamily="18" charset="0"/>
              </a:rPr>
              <a:t>To improve identification accuracy under real-world conditions</a:t>
            </a:r>
          </a:p>
          <a:p>
            <a:pPr marL="495300" indent="-342900" algn="just">
              <a:lnSpc>
                <a:spcPct val="200000"/>
              </a:lnSpc>
              <a:spcBef>
                <a:spcPts val="0"/>
              </a:spcBef>
            </a:pPr>
            <a:r>
              <a:rPr lang="en-IN" dirty="0">
                <a:latin typeface="Cambria" panose="02040503050406030204" pitchFamily="18" charset="0"/>
                <a:ea typeface="Cambria" panose="02040503050406030204" pitchFamily="18" charset="0"/>
              </a:rPr>
              <a:t>To support farmers and veterinarians with a fast decision-support tool</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 Background &amp; Related Work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Background: </a:t>
            </a: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   India possesses the largest livestock population globally, with more than 30 recognized cattle and buffalo breeds. Traditional identification relies on physical traits such as horn shape, hump, coat color, and body structure, which is subjective and inconsistent.</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Related Work:</a:t>
            </a: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   Recent studies have applied Convolutional Neural Networks (CNNs) and Vision Transformers (</a:t>
            </a:r>
            <a:r>
              <a:rPr lang="en-US" dirty="0" err="1">
                <a:latin typeface="Cambria" panose="02040503050406030204" pitchFamily="18" charset="0"/>
                <a:ea typeface="Cambria" panose="02040503050406030204" pitchFamily="18" charset="0"/>
              </a:rPr>
              <a:t>ViTs</a:t>
            </a:r>
            <a:r>
              <a:rPr lang="en-US" dirty="0">
                <a:latin typeface="Cambria" panose="02040503050406030204" pitchFamily="18" charset="0"/>
                <a:ea typeface="Cambria" panose="02040503050406030204" pitchFamily="18" charset="0"/>
              </a:rPr>
              <a:t>) for animal classification tasks. However, most existing work focuses on limited cow breeds and ignores buffalo breeds, lacks explainability, or uses small datasets.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0D89F0F-5A0C-F7CD-3998-8554C5917E94}"/>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C6C7F41-524C-8D88-EF95-653A4BB65D8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Reason for Title Selection</a:t>
            </a:r>
          </a:p>
        </p:txBody>
      </p:sp>
      <p:sp>
        <p:nvSpPr>
          <p:cNvPr id="115" name="Google Shape;115;p17">
            <a:extLst>
              <a:ext uri="{FF2B5EF4-FFF2-40B4-BE49-F238E27FC236}">
                <a16:creationId xmlns:a16="http://schemas.microsoft.com/office/drawing/2014/main" id="{DC0C5BF3-DFEA-8736-1EC6-3BB9CCF6EFF2}"/>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Reason for Selecting the Title: </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Addresses a real agricultural and economic problem</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Limited existing research on combined cattle and buffalo breed recognition</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Strong alignment with AI, Computer Vision, and Deep Learning</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High potential for research publication and real-world deployment</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Suitable for Smart India Hackathon and academic research</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694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b="1" dirty="0">
                <a:latin typeface="Cambria" panose="02040503050406030204" pitchFamily="18" charset="0"/>
                <a:ea typeface="Cambria" panose="02040503050406030204" pitchFamily="18" charset="0"/>
              </a:rPr>
              <a:t>Key Challenges:</a:t>
            </a:r>
          </a:p>
          <a:p>
            <a:pPr marL="495300" indent="-342900" algn="just">
              <a:spcBef>
                <a:spcPts val="0"/>
              </a:spcBef>
              <a:buSzPct val="100000"/>
            </a:pPr>
            <a:r>
              <a:rPr lang="en-US" dirty="0">
                <a:latin typeface="Cambria" panose="02040503050406030204" pitchFamily="18" charset="0"/>
                <a:ea typeface="Cambria" panose="02040503050406030204" pitchFamily="18" charset="0"/>
              </a:rPr>
              <a:t>High inter-breed similarity</a:t>
            </a:r>
          </a:p>
          <a:p>
            <a:pPr marL="495300" indent="-342900" algn="just">
              <a:spcBef>
                <a:spcPts val="0"/>
              </a:spcBef>
              <a:buSzPct val="100000"/>
            </a:pPr>
            <a:r>
              <a:rPr lang="en-US" dirty="0">
                <a:latin typeface="Cambria" panose="02040503050406030204" pitchFamily="18" charset="0"/>
                <a:ea typeface="Cambria" panose="02040503050406030204" pitchFamily="18" charset="0"/>
              </a:rPr>
              <a:t>Class imbalance across breeds</a:t>
            </a:r>
          </a:p>
          <a:p>
            <a:pPr marL="495300" indent="-342900" algn="just">
              <a:spcBef>
                <a:spcPts val="0"/>
              </a:spcBef>
              <a:buSzPct val="100000"/>
            </a:pPr>
            <a:r>
              <a:rPr lang="en-US" dirty="0">
                <a:latin typeface="Cambria" panose="02040503050406030204" pitchFamily="18" charset="0"/>
                <a:ea typeface="Cambria" panose="02040503050406030204" pitchFamily="18" charset="0"/>
              </a:rPr>
              <a:t>Variations in lighting, pose, and background</a:t>
            </a:r>
          </a:p>
          <a:p>
            <a:pPr marL="495300" indent="-342900" algn="just">
              <a:spcBef>
                <a:spcPts val="0"/>
              </a:spcBef>
              <a:buSzPct val="100000"/>
            </a:pPr>
            <a:r>
              <a:rPr lang="en-US" dirty="0">
                <a:latin typeface="Cambria" panose="02040503050406030204" pitchFamily="18" charset="0"/>
                <a:ea typeface="Cambria" panose="02040503050406030204" pitchFamily="18" charset="0"/>
              </a:rPr>
              <a:t>Limited labeled images for rare breeds</a:t>
            </a:r>
          </a:p>
          <a:p>
            <a:pPr marL="152400" indent="0" algn="just">
              <a:spcBef>
                <a:spcPts val="0"/>
              </a:spcBef>
              <a:buSzPct val="100000"/>
              <a:buNone/>
            </a:pPr>
            <a:endParaRPr lang="en-US" dirty="0">
              <a:latin typeface="Cambria" panose="02040503050406030204" pitchFamily="18" charset="0"/>
              <a:ea typeface="Cambria" panose="02040503050406030204" pitchFamily="18" charset="0"/>
            </a:endParaRPr>
          </a:p>
          <a:p>
            <a:pPr marL="152400" indent="0" algn="just">
              <a:spcBef>
                <a:spcPts val="0"/>
              </a:spcBef>
              <a:buSzPct val="100000"/>
              <a:buNone/>
            </a:pPr>
            <a:r>
              <a:rPr lang="en-US" b="1" dirty="0">
                <a:latin typeface="Cambria" panose="02040503050406030204" pitchFamily="18" charset="0"/>
                <a:ea typeface="Cambria" panose="02040503050406030204" pitchFamily="18" charset="0"/>
              </a:rPr>
              <a:t>Proposed Solution:</a:t>
            </a:r>
          </a:p>
          <a:p>
            <a:pPr marL="495300" indent="-342900" algn="just">
              <a:spcBef>
                <a:spcPts val="0"/>
              </a:spcBef>
              <a:buSzPct val="100000"/>
            </a:pPr>
            <a:r>
              <a:rPr lang="en-US" dirty="0">
                <a:latin typeface="Cambria" panose="02040503050406030204" pitchFamily="18" charset="0"/>
                <a:ea typeface="Cambria" panose="02040503050406030204" pitchFamily="18" charset="0"/>
              </a:rPr>
              <a:t>Dataset curation and augmentation</a:t>
            </a:r>
          </a:p>
          <a:p>
            <a:pPr marL="495300" indent="-342900" algn="just">
              <a:spcBef>
                <a:spcPts val="0"/>
              </a:spcBef>
              <a:buSzPct val="100000"/>
            </a:pPr>
            <a:r>
              <a:rPr lang="en-US" dirty="0">
                <a:latin typeface="Cambria" panose="02040503050406030204" pitchFamily="18" charset="0"/>
                <a:ea typeface="Cambria" panose="02040503050406030204" pitchFamily="18" charset="0"/>
              </a:rPr>
              <a:t>Use of </a:t>
            </a:r>
            <a:r>
              <a:rPr lang="en-US" dirty="0" err="1">
                <a:latin typeface="Cambria" panose="02040503050406030204" pitchFamily="18" charset="0"/>
                <a:ea typeface="Cambria" panose="02040503050406030204" pitchFamily="18" charset="0"/>
              </a:rPr>
              <a:t>EfficientNet</a:t>
            </a:r>
            <a:r>
              <a:rPr lang="en-US" dirty="0">
                <a:latin typeface="Cambria" panose="02040503050406030204" pitchFamily="18" charset="0"/>
                <a:ea typeface="Cambria" panose="02040503050406030204" pitchFamily="18" charset="0"/>
              </a:rPr>
              <a:t> and Vision Transformer models</a:t>
            </a:r>
          </a:p>
          <a:p>
            <a:pPr marL="495300" indent="-342900" algn="just">
              <a:spcBef>
                <a:spcPts val="0"/>
              </a:spcBef>
              <a:buSzPct val="100000"/>
            </a:pPr>
            <a:r>
              <a:rPr lang="en-US" dirty="0">
                <a:latin typeface="Cambria" panose="02040503050406030204" pitchFamily="18" charset="0"/>
                <a:ea typeface="Cambria" panose="02040503050406030204" pitchFamily="18" charset="0"/>
              </a:rPr>
              <a:t>Explainability using Grad-CAM</a:t>
            </a:r>
          </a:p>
          <a:p>
            <a:pPr marL="495300" indent="-342900" algn="just">
              <a:spcBef>
                <a:spcPts val="0"/>
              </a:spcBef>
              <a:buSzPct val="100000"/>
            </a:pPr>
            <a:r>
              <a:rPr lang="en-US" dirty="0">
                <a:latin typeface="Cambria" panose="02040503050406030204" pitchFamily="18" charset="0"/>
                <a:ea typeface="Cambria" panose="02040503050406030204" pitchFamily="18" charset="0"/>
              </a:rPr>
              <a:t>Performance evaluation using multiple metrics</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2D36FBF-2F34-64B2-986E-88234675D44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6487908E-6030-4DCB-E7B2-215F77ABFAB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 Novel Contributions</a:t>
            </a:r>
          </a:p>
        </p:txBody>
      </p:sp>
      <p:sp>
        <p:nvSpPr>
          <p:cNvPr id="115" name="Google Shape;115;p17">
            <a:extLst>
              <a:ext uri="{FF2B5EF4-FFF2-40B4-BE49-F238E27FC236}">
                <a16:creationId xmlns:a16="http://schemas.microsoft.com/office/drawing/2014/main" id="{75C3A7A1-C169-9B95-8CB2-30CC398607BE}"/>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9F777231-1F6D-2A3B-9CE3-709D113F0A76}"/>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D6CB6997-0EAC-6F82-1FAC-E749E7F7A3E5}"/>
              </a:ext>
            </a:extLst>
          </p:cNvPr>
          <p:cNvSpPr txBox="1">
            <a:spLocks/>
          </p:cNvSpPr>
          <p:nvPr/>
        </p:nvSpPr>
        <p:spPr>
          <a:xfrm>
            <a:off x="812800" y="1143000"/>
            <a:ext cx="10668000" cy="469632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None/>
            </a:pPr>
            <a:r>
              <a:rPr lang="en-US" b="1" dirty="0">
                <a:latin typeface="Cambria" panose="02040503050406030204" pitchFamily="18" charset="0"/>
                <a:ea typeface="Cambria" panose="02040503050406030204" pitchFamily="18" charset="0"/>
              </a:rPr>
              <a:t>Innovation:</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Unified classification of both cattle and buffalo breeds</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Fine-grained breed recognition using deep transfer learning</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Comparative analysis of CNN vs Transformer architectures</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Explainable AI for visual trait interpretation</a:t>
            </a:r>
          </a:p>
          <a:p>
            <a:pPr marL="495300" indent="-342900" algn="just">
              <a:lnSpc>
                <a:spcPct val="200000"/>
              </a:lnSpc>
              <a:spcBef>
                <a:spcPts val="0"/>
              </a:spcBef>
              <a:buSzPct val="100000"/>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90134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Technology Stack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a:bodyPr>
          <a:lstStyle/>
          <a:p>
            <a:pPr marL="342900" lvl="0" indent="-190500" algn="just">
              <a:lnSpc>
                <a:spcPct val="200000"/>
              </a:lnSpc>
              <a:spcBef>
                <a:spcPts val="0"/>
              </a:spcBef>
              <a:buSzPct val="100000"/>
              <a:buNone/>
            </a:pPr>
            <a:r>
              <a:rPr lang="en-US" b="1" dirty="0">
                <a:latin typeface="Cambria" panose="02040503050406030204" pitchFamily="18" charset="0"/>
                <a:ea typeface="Cambria" panose="02040503050406030204" pitchFamily="18" charset="0"/>
              </a:rPr>
              <a:t>Technology Stack Components:</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Programming Language: Python</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Frameworks: TensorFlow / </a:t>
            </a:r>
            <a:r>
              <a:rPr lang="en-US" dirty="0" err="1">
                <a:latin typeface="Cambria" panose="02040503050406030204" pitchFamily="18" charset="0"/>
                <a:ea typeface="Cambria" panose="02040503050406030204" pitchFamily="18" charset="0"/>
              </a:rPr>
              <a:t>PyTorch</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Models: EfficientNet-B2/B3, Vision Transformer</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Libraries: OpenCV, NumPy, Matplotlib</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Backend: </a:t>
            </a:r>
            <a:r>
              <a:rPr lang="en-US" dirty="0" err="1">
                <a:latin typeface="Cambria" panose="02040503050406030204" pitchFamily="18" charset="0"/>
                <a:ea typeface="Cambria" panose="02040503050406030204" pitchFamily="18" charset="0"/>
              </a:rPr>
              <a:t>FastAPIFrontend</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Streamlit</a:t>
            </a:r>
            <a:r>
              <a:rPr lang="en-US" dirty="0">
                <a:latin typeface="Cambria" panose="02040503050406030204" pitchFamily="18" charset="0"/>
                <a:ea typeface="Cambria" panose="02040503050406030204" pitchFamily="18" charset="0"/>
              </a:rPr>
              <a:t> / React</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Deployment: Kaggle GPU / Local system</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&amp; Hardware Requirements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a:lnSpc>
                <a:spcPct val="200000"/>
              </a:lnSpc>
              <a:spcBef>
                <a:spcPts val="0"/>
              </a:spcBef>
              <a:buSzPct val="100000"/>
              <a:buNone/>
            </a:pPr>
            <a:r>
              <a:rPr lang="en-IN" b="1" dirty="0">
                <a:latin typeface="Cambria" panose="02040503050406030204" pitchFamily="18" charset="0"/>
                <a:ea typeface="Cambria" panose="02040503050406030204" pitchFamily="18" charset="0"/>
              </a:rPr>
              <a:t>Software Requirements:</a:t>
            </a:r>
          </a:p>
          <a:p>
            <a:pPr marL="495300" indent="-342900" algn="just">
              <a:lnSpc>
                <a:spcPct val="200000"/>
              </a:lnSpc>
              <a:spcBef>
                <a:spcPts val="0"/>
              </a:spcBef>
              <a:buSzPct val="100000"/>
            </a:pPr>
            <a:r>
              <a:rPr lang="en-IN" dirty="0">
                <a:latin typeface="Cambria" panose="02040503050406030204" pitchFamily="18" charset="0"/>
                <a:ea typeface="Cambria" panose="02040503050406030204" pitchFamily="18" charset="0"/>
              </a:rPr>
              <a:t>Python 3.9+</a:t>
            </a:r>
          </a:p>
          <a:p>
            <a:pPr marL="495300" indent="-342900" algn="just">
              <a:lnSpc>
                <a:spcPct val="200000"/>
              </a:lnSpc>
              <a:spcBef>
                <a:spcPts val="0"/>
              </a:spcBef>
              <a:buSzPct val="100000"/>
            </a:pPr>
            <a:r>
              <a:rPr lang="en-IN" dirty="0">
                <a:latin typeface="Cambria" panose="02040503050406030204" pitchFamily="18" charset="0"/>
                <a:ea typeface="Cambria" panose="02040503050406030204" pitchFamily="18" charset="0"/>
              </a:rPr>
              <a:t>TensorFlow / </a:t>
            </a:r>
            <a:r>
              <a:rPr lang="en-IN" dirty="0" err="1">
                <a:latin typeface="Cambria" panose="02040503050406030204" pitchFamily="18" charset="0"/>
                <a:ea typeface="Cambria" panose="02040503050406030204" pitchFamily="18" charset="0"/>
              </a:rPr>
              <a:t>PyTorch</a:t>
            </a:r>
            <a:endParaRPr lang="en-IN"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IN" dirty="0">
                <a:latin typeface="Cambria" panose="02040503050406030204" pitchFamily="18" charset="0"/>
                <a:ea typeface="Cambria" panose="02040503050406030204" pitchFamily="18" charset="0"/>
              </a:rPr>
              <a:t>CUDA (Kaggle GPU)</a:t>
            </a:r>
          </a:p>
          <a:p>
            <a:pPr marL="495300" indent="-342900" algn="just">
              <a:lnSpc>
                <a:spcPct val="200000"/>
              </a:lnSpc>
              <a:spcBef>
                <a:spcPts val="0"/>
              </a:spcBef>
              <a:buSzPct val="100000"/>
            </a:pPr>
            <a:r>
              <a:rPr lang="en-IN" dirty="0" err="1">
                <a:latin typeface="Cambria" panose="02040503050406030204" pitchFamily="18" charset="0"/>
                <a:ea typeface="Cambria" panose="02040503050406030204" pitchFamily="18" charset="0"/>
              </a:rPr>
              <a:t>Jupyter</a:t>
            </a:r>
            <a:r>
              <a:rPr lang="en-IN" dirty="0">
                <a:latin typeface="Cambria" panose="02040503050406030204" pitchFamily="18" charset="0"/>
                <a:ea typeface="Cambria" panose="02040503050406030204" pitchFamily="18" charset="0"/>
              </a:rPr>
              <a:t> Notebook</a:t>
            </a:r>
          </a:p>
          <a:p>
            <a:pPr marL="152400" indent="0" algn="just">
              <a:lnSpc>
                <a:spcPct val="200000"/>
              </a:lnSpc>
              <a:spcBef>
                <a:spcPts val="0"/>
              </a:spcBef>
              <a:buSzPct val="100000"/>
              <a:buNone/>
            </a:pPr>
            <a:r>
              <a:rPr lang="en-IN" b="1" dirty="0">
                <a:latin typeface="Cambria" panose="02040503050406030204" pitchFamily="18" charset="0"/>
                <a:ea typeface="Cambria" panose="02040503050406030204" pitchFamily="18" charset="0"/>
              </a:rPr>
              <a:t>Hardware Requirements:</a:t>
            </a:r>
          </a:p>
          <a:p>
            <a:pPr marL="495300" indent="-342900" algn="just">
              <a:lnSpc>
                <a:spcPct val="200000"/>
              </a:lnSpc>
              <a:spcBef>
                <a:spcPts val="0"/>
              </a:spcBef>
              <a:buSzPct val="100000"/>
            </a:pPr>
            <a:r>
              <a:rPr lang="en-IN" dirty="0">
                <a:latin typeface="Cambria" panose="02040503050406030204" pitchFamily="18" charset="0"/>
                <a:ea typeface="Cambria" panose="02040503050406030204" pitchFamily="18" charset="0"/>
              </a:rPr>
              <a:t>NVIDIA Tesla T4 GPU (Kaggle Free Tier)</a:t>
            </a:r>
          </a:p>
          <a:p>
            <a:pPr marL="495300" indent="-342900" algn="just">
              <a:lnSpc>
                <a:spcPct val="200000"/>
              </a:lnSpc>
              <a:spcBef>
                <a:spcPts val="0"/>
              </a:spcBef>
              <a:buSzPct val="100000"/>
            </a:pPr>
            <a:r>
              <a:rPr lang="en-IN" dirty="0">
                <a:latin typeface="Cambria" panose="02040503050406030204" pitchFamily="18" charset="0"/>
                <a:ea typeface="Cambria" panose="02040503050406030204" pitchFamily="18" charset="0"/>
              </a:rPr>
              <a:t>Minimum 8 GB RAM</a:t>
            </a:r>
          </a:p>
          <a:p>
            <a:pPr marL="495300" indent="-342900" algn="just">
              <a:lnSpc>
                <a:spcPct val="200000"/>
              </a:lnSpc>
              <a:spcBef>
                <a:spcPts val="0"/>
              </a:spcBef>
              <a:buSzPct val="100000"/>
            </a:pPr>
            <a:r>
              <a:rPr lang="en-IN" dirty="0">
                <a:latin typeface="Cambria" panose="02040503050406030204" pitchFamily="18" charset="0"/>
                <a:ea typeface="Cambria" panose="02040503050406030204" pitchFamily="18" charset="0"/>
              </a:rPr>
              <a:t>20–30 GB storage</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D82D0D1-2A15-0537-4A06-D101B853915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E465577-36D5-691F-CBB7-B8C1C8D7C15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a:extLst>
              <a:ext uri="{FF2B5EF4-FFF2-40B4-BE49-F238E27FC236}">
                <a16:creationId xmlns:a16="http://schemas.microsoft.com/office/drawing/2014/main" id="{901EDB47-22D5-DD08-4208-267DA1BC619B}"/>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nSpc>
                <a:spcPct val="200000"/>
              </a:lnSpc>
              <a:spcBef>
                <a:spcPts val="0"/>
              </a:spcBef>
              <a:buSzPct val="100000"/>
              <a:buNone/>
            </a:pPr>
            <a:r>
              <a:rPr lang="en-US" b="1" dirty="0">
                <a:latin typeface="Cambria" panose="02040503050406030204" pitchFamily="18" charset="0"/>
                <a:ea typeface="Cambria" panose="02040503050406030204" pitchFamily="18" charset="0"/>
              </a:rPr>
              <a:t>https://github.com/Manishraj-07/Image-Based-Breed-Recognition-For-Cattle-And-Buffalo</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8513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CBD4ADF8-294A-16F5-32DB-1CE100FFA16C}"/>
              </a:ext>
            </a:extLst>
          </p:cNvPr>
          <p:cNvPicPr>
            <a:picLocks noChangeAspect="1"/>
          </p:cNvPicPr>
          <p:nvPr/>
        </p:nvPicPr>
        <p:blipFill>
          <a:blip r:embed="rId3"/>
          <a:srcRect b="5739"/>
          <a:stretch>
            <a:fillRect/>
          </a:stretch>
        </p:blipFill>
        <p:spPr>
          <a:xfrm>
            <a:off x="1550924" y="1286891"/>
            <a:ext cx="9090152" cy="428421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[1]. S. </a:t>
            </a:r>
            <a:r>
              <a:rPr lang="en-US" dirty="0" err="1">
                <a:latin typeface="Cambria" panose="02040503050406030204" pitchFamily="18" charset="0"/>
                <a:ea typeface="Cambria" panose="02040503050406030204" pitchFamily="18" charset="0"/>
              </a:rPr>
              <a:t>Kamilaris</a:t>
            </a:r>
            <a:r>
              <a:rPr lang="en-US" dirty="0">
                <a:latin typeface="Cambria" panose="02040503050406030204" pitchFamily="18" charset="0"/>
                <a:ea typeface="Cambria" panose="02040503050406030204" pitchFamily="18" charset="0"/>
              </a:rPr>
              <a:t> and F. X. </a:t>
            </a:r>
            <a:r>
              <a:rPr lang="en-US" dirty="0" err="1">
                <a:latin typeface="Cambria" panose="02040503050406030204" pitchFamily="18" charset="0"/>
                <a:ea typeface="Cambria" panose="02040503050406030204" pitchFamily="18" charset="0"/>
              </a:rPr>
              <a:t>Prenafeta-Boldú</a:t>
            </a:r>
            <a:r>
              <a:rPr lang="en-US" dirty="0">
                <a:latin typeface="Cambria" panose="02040503050406030204" pitchFamily="18" charset="0"/>
                <a:ea typeface="Cambria" panose="02040503050406030204" pitchFamily="18" charset="0"/>
              </a:rPr>
              <a:t>, “Deep learning in agriculture: A survey,” Computers and Electronics in Agriculture, vol. 147, pp. 70–90, Apr. 2018.</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[2]. A. Ferentinos, “Deep learning models for plant disease detection and diagnosis,” Computers and Electronics in Agriculture, vol. 145, pp. 311–318, Feb. 2018.</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[3]. M. A. Z. Raja et al., “Cattle breed classification using deep convolutional neural networks,” IEEE Access, vol. 8, pp. 183051–183060, 2020.</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[4]. J. Redmon et al., “You only look once: Unified, real-time object detection,” IEEE CVPR, pp. 779–788, 2016.</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[5]. A. </a:t>
            </a:r>
            <a:r>
              <a:rPr lang="en-US" dirty="0" err="1">
                <a:latin typeface="Cambria" panose="02040503050406030204" pitchFamily="18" charset="0"/>
                <a:ea typeface="Cambria" panose="02040503050406030204" pitchFamily="18" charset="0"/>
              </a:rPr>
              <a:t>Dosovitskiy</a:t>
            </a:r>
            <a:r>
              <a:rPr lang="en-US" dirty="0">
                <a:latin typeface="Cambria" panose="02040503050406030204" pitchFamily="18" charset="0"/>
                <a:ea typeface="Cambria" panose="02040503050406030204" pitchFamily="18" charset="0"/>
              </a:rPr>
              <a:t> et al., “An image is worth 16×16 words: Transformers for image recognition at scale,” ICLR, 2021.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1229</TotalTime>
  <Words>757</Words>
  <Application>Microsoft Office PowerPoint</Application>
  <PresentationFormat>Widescreen</PresentationFormat>
  <Paragraphs>117</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Bookman Old Style</vt:lpstr>
      <vt:lpstr>Cambria</vt:lpstr>
      <vt:lpstr>Verdana</vt:lpstr>
      <vt:lpstr>Wingdings</vt:lpstr>
      <vt:lpstr>Bioinformatics</vt:lpstr>
      <vt:lpstr>IMAGE BASED BREED RECOGNITION FOR CATTLE AND BUFFALO OF INDIA</vt:lpstr>
      <vt:lpstr>Problem Statement Number: SIH25004</vt:lpstr>
      <vt:lpstr>Content</vt:lpstr>
      <vt:lpstr>Problem Statement Objectives</vt:lpstr>
      <vt:lpstr> Background &amp; Related Work</vt:lpstr>
      <vt:lpstr>Reason for Title Selection</vt:lpstr>
      <vt:lpstr>Analysis of Problem Statement</vt:lpstr>
      <vt:lpstr>Innovation / Novel Contributions</vt:lpstr>
      <vt:lpstr>Technology Stack</vt:lpstr>
      <vt:lpstr>Software &amp; Hardware Requirements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Sakshi Agrawal</cp:lastModifiedBy>
  <cp:revision>42</cp:revision>
  <dcterms:modified xsi:type="dcterms:W3CDTF">2026-04-24T09:00:17Z</dcterms:modified>
</cp:coreProperties>
</file>